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104 kandidat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B4BAC8"/>
              </a:solidFill>
              <a:ln>
                <a:solidFill>
                  <a:srgbClr val="B4BAC8"/>
                </a:solidFill>
              </a:ln>
            </c:spPr>
          </c:marker>
          <c:xVal>
            <c:numRef>
              <c:f>Sheet1!$A$2:$A$96</c:f>
              <c:numCache>
                <c:formatCode>General</c:formatCode>
                <c:ptCount val="95"/>
                <c:pt idx="0">
                  <c:v>336.3</c:v>
                </c:pt>
                <c:pt idx="1">
                  <c:v>360.32</c:v>
                </c:pt>
                <c:pt idx="2">
                  <c:v>538.46</c:v>
                </c:pt>
                <c:pt idx="3">
                  <c:v>538.46</c:v>
                </c:pt>
                <c:pt idx="4">
                  <c:v>718.62</c:v>
                </c:pt>
                <c:pt idx="5">
                  <c:v>802.56</c:v>
                </c:pt>
                <c:pt idx="6">
                  <c:v>520.45</c:v>
                </c:pt>
                <c:pt idx="7">
                  <c:v>494.45</c:v>
                </c:pt>
                <c:pt idx="8">
                  <c:v>782.53</c:v>
                </c:pt>
                <c:pt idx="9">
                  <c:v>344.32</c:v>
                </c:pt>
                <c:pt idx="10">
                  <c:v>784.54</c:v>
                </c:pt>
                <c:pt idx="11">
                  <c:v>664.66</c:v>
                </c:pt>
                <c:pt idx="12">
                  <c:v>640.59</c:v>
                </c:pt>
                <c:pt idx="13">
                  <c:v>168.15</c:v>
                </c:pt>
                <c:pt idx="14">
                  <c:v>720.64</c:v>
                </c:pt>
                <c:pt idx="15">
                  <c:v>170.12</c:v>
                </c:pt>
                <c:pt idx="16">
                  <c:v>434.4</c:v>
                </c:pt>
                <c:pt idx="17">
                  <c:v>624.59</c:v>
                </c:pt>
                <c:pt idx="18">
                  <c:v>770.74</c:v>
                </c:pt>
                <c:pt idx="19">
                  <c:v>462.45</c:v>
                </c:pt>
                <c:pt idx="20">
                  <c:v>288.25</c:v>
                </c:pt>
                <c:pt idx="21">
                  <c:v>676.8</c:v>
                </c:pt>
                <c:pt idx="22">
                  <c:v>462.36</c:v>
                </c:pt>
                <c:pt idx="23">
                  <c:v>314.29</c:v>
                </c:pt>
                <c:pt idx="24">
                  <c:v>354.31</c:v>
                </c:pt>
                <c:pt idx="25">
                  <c:v>352.43</c:v>
                </c:pt>
                <c:pt idx="26">
                  <c:v>598.51</c:v>
                </c:pt>
                <c:pt idx="27">
                  <c:v>194.19</c:v>
                </c:pt>
                <c:pt idx="28">
                  <c:v>254.41</c:v>
                </c:pt>
                <c:pt idx="29">
                  <c:v>448.38</c:v>
                </c:pt>
                <c:pt idx="30">
                  <c:v>186.29</c:v>
                </c:pt>
                <c:pt idx="31">
                  <c:v>200.32</c:v>
                </c:pt>
                <c:pt idx="32">
                  <c:v>228.38</c:v>
                </c:pt>
                <c:pt idx="33">
                  <c:v>242.4</c:v>
                </c:pt>
                <c:pt idx="34">
                  <c:v>270.46</c:v>
                </c:pt>
                <c:pt idx="35">
                  <c:v>368.65</c:v>
                </c:pt>
                <c:pt idx="36">
                  <c:v>452.81</c:v>
                </c:pt>
                <c:pt idx="37">
                  <c:v>300.31</c:v>
                </c:pt>
                <c:pt idx="38">
                  <c:v>432.38</c:v>
                </c:pt>
                <c:pt idx="39">
                  <c:v>380.48</c:v>
                </c:pt>
                <c:pt idx="40">
                  <c:v>666.85</c:v>
                </c:pt>
                <c:pt idx="41">
                  <c:v>408.54</c:v>
                </c:pt>
                <c:pt idx="42">
                  <c:v>498.75</c:v>
                </c:pt>
                <c:pt idx="43">
                  <c:v>184.23</c:v>
                </c:pt>
                <c:pt idx="44">
                  <c:v>496.6</c:v>
                </c:pt>
                <c:pt idx="45">
                  <c:v>392.49</c:v>
                </c:pt>
                <c:pt idx="46">
                  <c:v>536.49</c:v>
                </c:pt>
                <c:pt idx="47">
                  <c:v>664.88</c:v>
                </c:pt>
                <c:pt idx="48">
                  <c:v>446.41</c:v>
                </c:pt>
                <c:pt idx="49">
                  <c:v>314.29</c:v>
                </c:pt>
                <c:pt idx="50">
                  <c:v>610.52</c:v>
                </c:pt>
                <c:pt idx="51">
                  <c:v>460.44</c:v>
                </c:pt>
                <c:pt idx="52">
                  <c:v>492.43</c:v>
                </c:pt>
                <c:pt idx="53">
                  <c:v>330.51</c:v>
                </c:pt>
                <c:pt idx="54">
                  <c:v>264.32</c:v>
                </c:pt>
                <c:pt idx="55">
                  <c:v>316.31</c:v>
                </c:pt>
                <c:pt idx="56">
                  <c:v>520.49</c:v>
                </c:pt>
                <c:pt idx="57">
                  <c:v>624.5</c:v>
                </c:pt>
                <c:pt idx="58">
                  <c:v>280.32</c:v>
                </c:pt>
                <c:pt idx="59">
                  <c:v>480.6</c:v>
                </c:pt>
                <c:pt idx="60">
                  <c:v>780.51</c:v>
                </c:pt>
                <c:pt idx="61">
                  <c:v>374.35</c:v>
                </c:pt>
                <c:pt idx="62">
                  <c:v>664.88</c:v>
                </c:pt>
                <c:pt idx="63">
                  <c:v>196.2</c:v>
                </c:pt>
                <c:pt idx="64">
                  <c:v>490.46</c:v>
                </c:pt>
                <c:pt idx="65">
                  <c:v>913.69</c:v>
                </c:pt>
                <c:pt idx="66">
                  <c:v>338.44</c:v>
                </c:pt>
                <c:pt idx="67">
                  <c:v>338.44</c:v>
                </c:pt>
                <c:pt idx="68">
                  <c:v>254.41</c:v>
                </c:pt>
                <c:pt idx="69">
                  <c:v>512.6</c:v>
                </c:pt>
                <c:pt idx="70">
                  <c:v>512.6</c:v>
                </c:pt>
                <c:pt idx="71">
                  <c:v>520.53</c:v>
                </c:pt>
                <c:pt idx="72">
                  <c:v>448.38</c:v>
                </c:pt>
                <c:pt idx="73">
                  <c:v>298.29</c:v>
                </c:pt>
                <c:pt idx="74">
                  <c:v>464.38</c:v>
                </c:pt>
                <c:pt idx="75">
                  <c:v>148.16</c:v>
                </c:pt>
                <c:pt idx="76">
                  <c:v>314.29</c:v>
                </c:pt>
                <c:pt idx="77">
                  <c:v>929.69</c:v>
                </c:pt>
                <c:pt idx="78">
                  <c:v>300.48</c:v>
                </c:pt>
                <c:pt idx="79">
                  <c:v>943.71</c:v>
                </c:pt>
                <c:pt idx="80">
                  <c:v>328.32</c:v>
                </c:pt>
                <c:pt idx="81">
                  <c:v>756.71</c:v>
                </c:pt>
                <c:pt idx="82">
                  <c:v>448.38</c:v>
                </c:pt>
                <c:pt idx="83">
                  <c:v>352.47</c:v>
                </c:pt>
                <c:pt idx="84">
                  <c:v>298.29</c:v>
                </c:pt>
                <c:pt idx="85">
                  <c:v>897.69</c:v>
                </c:pt>
                <c:pt idx="86">
                  <c:v>450.44</c:v>
                </c:pt>
                <c:pt idx="87">
                  <c:v>302.24</c:v>
                </c:pt>
                <c:pt idx="88">
                  <c:v>270.24</c:v>
                </c:pt>
                <c:pt idx="89">
                  <c:v>334.46</c:v>
                </c:pt>
                <c:pt idx="90">
                  <c:v>286.24</c:v>
                </c:pt>
                <c:pt idx="91">
                  <c:v>210.23</c:v>
                </c:pt>
                <c:pt idx="92">
                  <c:v>298.29</c:v>
                </c:pt>
                <c:pt idx="93">
                  <c:v>268.27</c:v>
                </c:pt>
                <c:pt idx="94">
                  <c:v>328.32</c:v>
                </c:pt>
              </c:numCache>
            </c:numRef>
          </c:xVal>
          <c:yVal>
            <c:numRef>
              <c:f>Sheet1!$B$2:$B$96</c:f>
              <c:numCache>
                <c:formatCode>General</c:formatCode>
                <c:ptCount val="95"/>
                <c:pt idx="0">
                  <c:v>0.16</c:v>
                </c:pt>
                <c:pt idx="1">
                  <c:v>1.76</c:v>
                </c:pt>
                <c:pt idx="2">
                  <c:v>2.97</c:v>
                </c:pt>
                <c:pt idx="3">
                  <c:v>2.77</c:v>
                </c:pt>
                <c:pt idx="4">
                  <c:v>3.33</c:v>
                </c:pt>
                <c:pt idx="5">
                  <c:v>0.41</c:v>
                </c:pt>
                <c:pt idx="6">
                  <c:v>3.1</c:v>
                </c:pt>
                <c:pt idx="7">
                  <c:v>3.34</c:v>
                </c:pt>
                <c:pt idx="8">
                  <c:v>1.37</c:v>
                </c:pt>
                <c:pt idx="9">
                  <c:v>2.06</c:v>
                </c:pt>
                <c:pt idx="10">
                  <c:v>0.67</c:v>
                </c:pt>
                <c:pt idx="11">
                  <c:v>0.05</c:v>
                </c:pt>
                <c:pt idx="12">
                  <c:v>-1.53</c:v>
                </c:pt>
                <c:pt idx="13">
                  <c:v>1.1</c:v>
                </c:pt>
                <c:pt idx="14">
                  <c:v>2.92</c:v>
                </c:pt>
                <c:pt idx="15">
                  <c:v>0.5</c:v>
                </c:pt>
                <c:pt idx="16">
                  <c:v>0.72</c:v>
                </c:pt>
                <c:pt idx="17">
                  <c:v>-1.02</c:v>
                </c:pt>
                <c:pt idx="18">
                  <c:v>1.42</c:v>
                </c:pt>
                <c:pt idx="19">
                  <c:v>0.59</c:v>
                </c:pt>
                <c:pt idx="20">
                  <c:v>1.48</c:v>
                </c:pt>
                <c:pt idx="21">
                  <c:v>0.12</c:v>
                </c:pt>
                <c:pt idx="22">
                  <c:v>-0.15</c:v>
                </c:pt>
                <c:pt idx="23">
                  <c:v>2.74</c:v>
                </c:pt>
                <c:pt idx="24">
                  <c:v>-0.65</c:v>
                </c:pt>
                <c:pt idx="25">
                  <c:v>3.39</c:v>
                </c:pt>
                <c:pt idx="26">
                  <c:v>0.64</c:v>
                </c:pt>
                <c:pt idx="27">
                  <c:v>1.5</c:v>
                </c:pt>
                <c:pt idx="28">
                  <c:v>5.33</c:v>
                </c:pt>
                <c:pt idx="29">
                  <c:v>0.49</c:v>
                </c:pt>
                <c:pt idx="30">
                  <c:v>3.6</c:v>
                </c:pt>
                <c:pt idx="31">
                  <c:v>3.99</c:v>
                </c:pt>
                <c:pt idx="32">
                  <c:v>4.77</c:v>
                </c:pt>
                <c:pt idx="33">
                  <c:v>5.16</c:v>
                </c:pt>
                <c:pt idx="34">
                  <c:v>5.94</c:v>
                </c:pt>
                <c:pt idx="35">
                  <c:v>8.67</c:v>
                </c:pt>
                <c:pt idx="36">
                  <c:v>11.01</c:v>
                </c:pt>
                <c:pt idx="37">
                  <c:v>3.12</c:v>
                </c:pt>
                <c:pt idx="38">
                  <c:v>0.78</c:v>
                </c:pt>
                <c:pt idx="39">
                  <c:v>4.17</c:v>
                </c:pt>
                <c:pt idx="40">
                  <c:v>1.41</c:v>
                </c:pt>
                <c:pt idx="41">
                  <c:v>4.95</c:v>
                </c:pt>
                <c:pt idx="42">
                  <c:v>7.66</c:v>
                </c:pt>
                <c:pt idx="43">
                  <c:v>1.74</c:v>
                </c:pt>
                <c:pt idx="44">
                  <c:v>0.82</c:v>
                </c:pt>
                <c:pt idx="45">
                  <c:v>2.53</c:v>
                </c:pt>
                <c:pt idx="46">
                  <c:v>0.38</c:v>
                </c:pt>
                <c:pt idx="47">
                  <c:v>5.37</c:v>
                </c:pt>
                <c:pt idx="48">
                  <c:v>0.35</c:v>
                </c:pt>
                <c:pt idx="49">
                  <c:v>2.78</c:v>
                </c:pt>
                <c:pt idx="50">
                  <c:v>-1.69</c:v>
                </c:pt>
                <c:pt idx="51">
                  <c:v>0.66</c:v>
                </c:pt>
                <c:pt idx="52">
                  <c:v>0.07</c:v>
                </c:pt>
                <c:pt idx="53">
                  <c:v>4.36</c:v>
                </c:pt>
                <c:pt idx="54">
                  <c:v>1.88</c:v>
                </c:pt>
                <c:pt idx="55">
                  <c:v>2.82</c:v>
                </c:pt>
                <c:pt idx="56">
                  <c:v>0.67</c:v>
                </c:pt>
                <c:pt idx="57">
                  <c:v>-2.68</c:v>
                </c:pt>
                <c:pt idx="58">
                  <c:v>0.85</c:v>
                </c:pt>
                <c:pt idx="59">
                  <c:v>1.85</c:v>
                </c:pt>
                <c:pt idx="60">
                  <c:v>1.35</c:v>
                </c:pt>
                <c:pt idx="61">
                  <c:v>2.91</c:v>
                </c:pt>
                <c:pt idx="62">
                  <c:v>5.51</c:v>
                </c:pt>
                <c:pt idx="63">
                  <c:v>1.42</c:v>
                </c:pt>
                <c:pt idx="64">
                  <c:v>0.66</c:v>
                </c:pt>
                <c:pt idx="65">
                  <c:v>0.08</c:v>
                </c:pt>
                <c:pt idx="66">
                  <c:v>3.6</c:v>
                </c:pt>
                <c:pt idx="67">
                  <c:v>3.6</c:v>
                </c:pt>
                <c:pt idx="68">
                  <c:v>5.16</c:v>
                </c:pt>
                <c:pt idx="69">
                  <c:v>-0.21</c:v>
                </c:pt>
                <c:pt idx="70">
                  <c:v>-0.21</c:v>
                </c:pt>
                <c:pt idx="71">
                  <c:v>0.16</c:v>
                </c:pt>
                <c:pt idx="72">
                  <c:v>-0.24</c:v>
                </c:pt>
                <c:pt idx="73">
                  <c:v>3.18</c:v>
                </c:pt>
                <c:pt idx="74">
                  <c:v>-0.54</c:v>
                </c:pt>
                <c:pt idx="75">
                  <c:v>1.78</c:v>
                </c:pt>
                <c:pt idx="76">
                  <c:v>2.74</c:v>
                </c:pt>
                <c:pt idx="77">
                  <c:v>-0.21</c:v>
                </c:pt>
                <c:pt idx="78">
                  <c:v>5.0</c:v>
                </c:pt>
                <c:pt idx="79">
                  <c:v>0.09</c:v>
                </c:pt>
                <c:pt idx="80">
                  <c:v>3.19</c:v>
                </c:pt>
                <c:pt idx="81">
                  <c:v>-2.55</c:v>
                </c:pt>
                <c:pt idx="82">
                  <c:v>-0.24</c:v>
                </c:pt>
                <c:pt idx="83">
                  <c:v>2.04</c:v>
                </c:pt>
                <c:pt idx="84">
                  <c:v>3.18</c:v>
                </c:pt>
                <c:pt idx="85">
                  <c:v>0.38</c:v>
                </c:pt>
                <c:pt idx="86">
                  <c:v>-0.88</c:v>
                </c:pt>
                <c:pt idx="87">
                  <c:v>1.99</c:v>
                </c:pt>
                <c:pt idx="88">
                  <c:v>2.58</c:v>
                </c:pt>
                <c:pt idx="89">
                  <c:v>2.99</c:v>
                </c:pt>
                <c:pt idx="90">
                  <c:v>2.28</c:v>
                </c:pt>
                <c:pt idx="91">
                  <c:v>1.41</c:v>
                </c:pt>
                <c:pt idx="92">
                  <c:v>3.18</c:v>
                </c:pt>
                <c:pt idx="93">
                  <c:v>3.17</c:v>
                </c:pt>
                <c:pt idx="94">
                  <c:v>3.19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Sheet1!$B$98</c:f>
              <c:strCache>
                <c:ptCount val="1"/>
                <c:pt idx="0">
                  <c:v>9 lolos ADMET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C6543"/>
              </a:solidFill>
              <a:ln>
                <a:solidFill>
                  <a:srgbClr val="2C6543"/>
                </a:solidFill>
              </a:ln>
            </c:spPr>
          </c:marker>
          <c:xVal>
            <c:numRef>
              <c:f>Sheet1!$A$99:$A$105</c:f>
              <c:numCache>
                <c:formatCode>General</c:formatCode>
                <c:ptCount val="7"/>
                <c:pt idx="0">
                  <c:v>332.26</c:v>
                </c:pt>
                <c:pt idx="1">
                  <c:v>376.36</c:v>
                </c:pt>
                <c:pt idx="2">
                  <c:v>680.83</c:v>
                </c:pt>
                <c:pt idx="3">
                  <c:v>678.81</c:v>
                </c:pt>
                <c:pt idx="4">
                  <c:v>176.12</c:v>
                </c:pt>
                <c:pt idx="5">
                  <c:v>198.17</c:v>
                </c:pt>
                <c:pt idx="6">
                  <c:v>478.45</c:v>
                </c:pt>
              </c:numCache>
            </c:numRef>
          </c:xVal>
          <c:yVal>
            <c:numRef>
              <c:f>Sheet1!$B$99:$B$105</c:f>
              <c:numCache>
                <c:formatCode>General</c:formatCode>
                <c:ptCount val="7"/>
                <c:pt idx="0">
                  <c:v>-1.63</c:v>
                </c:pt>
                <c:pt idx="1">
                  <c:v>-2.24</c:v>
                </c:pt>
                <c:pt idx="2">
                  <c:v>0.57</c:v>
                </c:pt>
                <c:pt idx="3">
                  <c:v>0.34</c:v>
                </c:pt>
                <c:pt idx="4">
                  <c:v>-1.41</c:v>
                </c:pt>
                <c:pt idx="5">
                  <c:v>0.09</c:v>
                </c:pt>
                <c:pt idx="6">
                  <c:v>-3.2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Sheet1!$B$107</c:f>
              <c:strCache>
                <c:ptCount val="1"/>
                <c:pt idx="0">
                  <c:v>2 juga lolos oral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1E3A6B"/>
              </a:solidFill>
              <a:ln>
                <a:solidFill>
                  <a:srgbClr val="1E3A6B"/>
                </a:solidFill>
              </a:ln>
            </c:spPr>
          </c:marker>
          <c:xVal>
            <c:numRef>
              <c:f>Sheet1!$A$108:$A$109</c:f>
              <c:numCache>
                <c:formatCode>General</c:formatCode>
                <c:ptCount val="2"/>
                <c:pt idx="0">
                  <c:v>164.16</c:v>
                </c:pt>
                <c:pt idx="1">
                  <c:v>180.16</c:v>
                </c:pt>
              </c:numCache>
            </c:numRef>
          </c:xVal>
          <c:yVal>
            <c:numRef>
              <c:f>Sheet1!$B$108:$B$109</c:f>
              <c:numCache>
                <c:formatCode>General</c:formatCode>
                <c:ptCount val="2"/>
                <c:pt idx="0">
                  <c:v>1.49</c:v>
                </c:pt>
                <c:pt idx="1">
                  <c:v>1.2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6E7587"/>
                    </a:solidFill>
                    <a:latin typeface="Calibri"/>
                  </a:rPr>
                  <a:t>bobot molekul (Da)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B4BAC8"/>
            </a:solidFill>
          </a:ln>
        </c:spPr>
        <c:txPr>
          <a:bodyPr/>
          <a:lstStyle/>
          <a:p>
            <a:pPr>
              <a:defRPr sz="900">
                <a:solidFill>
                  <a:srgbClr val="6E7587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BDF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6E7587"/>
                    </a:solidFill>
                    <a:latin typeface="Calibri"/>
                  </a:rPr>
                  <a:t>cLogP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B4BAC8"/>
            </a:solidFill>
          </a:ln>
        </c:spPr>
        <c:txPr>
          <a:bodyPr/>
          <a:lstStyle/>
          <a:p>
            <a:pPr>
              <a:defRPr sz="900">
                <a:solidFill>
                  <a:srgbClr val="6E7587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6E7587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6B"/>
                </a:solidFill>
                <a:latin typeface="Calibri"/>
              </a:rPr>
              <a:t>LAPORAN KEMAJUAN · MONITORING DAN EVALUASI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9692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14171F"/>
                </a:solidFill>
                <a:latin typeface="Calibri"/>
              </a:rPr>
              <a:t>Skrining </a:t>
            </a:r>
            <a:r>
              <a:rPr sz="3800" b="1" i="1">
                <a:solidFill>
                  <a:srgbClr val="14171F"/>
                </a:solidFill>
                <a:latin typeface="Calibri"/>
              </a:rPr>
              <a:t>in silico</a:t>
            </a:r>
            <a:r>
              <a:rPr sz="3800" b="1" i="0">
                <a:solidFill>
                  <a:srgbClr val="14171F"/>
                </a:solidFill>
                <a:latin typeface="Calibri"/>
              </a:rPr>
              <a:t> senyawa herbal sebagai kandidat antivirus terhadap </a:t>
            </a:r>
            <a:r>
              <a:rPr sz="3800" b="1" i="0">
                <a:solidFill>
                  <a:srgbClr val="1E3A6B"/>
                </a:solidFill>
                <a:latin typeface="Calibri"/>
              </a:rPr>
              <a:t>Avian Influenza A/H9N2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3192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F4658"/>
                </a:solidFill>
                <a:latin typeface="Calibri"/>
              </a:rPr>
              <a:t>Tahun pertama pelaksanaan  ·  Skema Penelitian BIMA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1389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171F"/>
                </a:solidFill>
                <a:latin typeface="Calibri"/>
              </a:rPr>
              <a:t>Dr. Siti Amiroch, S.Si., M.Si.</a:t>
            </a:r>
            <a:r>
              <a:rPr sz="1350" b="0" i="0">
                <a:solidFill>
                  <a:srgbClr val="3F4658"/>
                </a:solidFill>
                <a:latin typeface="Calibri"/>
              </a:rPr>
              <a:t>  —  ketua peneliti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3F4658"/>
                </a:solidFill>
                <a:latin typeface="Calibri"/>
              </a:rPr>
              <a:t>Awawin Mustana Rohmah, S.Si., M.Si.  ·  Moh. Hamim Zajuli Al Faroby, S.Si., M.Si.</a:t>
            </a:r>
          </a:p>
          <a:p>
            <a:pPr algn="l"/>
            <a:r>
              <a:rPr sz="1250" b="0" i="0">
                <a:solidFill>
                  <a:srgbClr val="3F4658"/>
                </a:solidFill>
                <a:latin typeface="Calibri"/>
              </a:rPr>
              <a:t>Prof. Dr. drh. Chairul Anwar Nidom, M.S.  ·  Dr. Reviany Vibrianita N., Apt., M.Farm.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6144768"/>
            <a:ext cx="7680960" cy="384048"/>
          </a:xfrm>
          <a:prstGeom prst="roundRect">
            <a:avLst>
              <a:gd name="adj" fmla="val 35000"/>
            </a:avLst>
          </a:prstGeom>
          <a:solidFill>
            <a:srgbClr val="F6EEDD"/>
          </a:solidFill>
          <a:ln w="12700">
            <a:solidFill>
              <a:srgbClr val="8A5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r>
              <a:rPr sz="1100" b="0">
                <a:solidFill>
                  <a:srgbClr val="8A5A12"/>
                </a:solidFill>
                <a:latin typeface="Calibri"/>
              </a:rPr>
              <a:t>Nomor SK  ·  Nomor Kontrak  ·  Perguruan Tinggi  —  </a:t>
            </a:r>
            <a:r>
              <a:rPr sz="1100" b="1">
                <a:solidFill>
                  <a:srgbClr val="8A5A12"/>
                </a:solidFill>
                <a:latin typeface="Calibri"/>
              </a:rPr>
              <a:t>lengkapi sebelum dipresentasikan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3A6B"/>
                </a:solidFill>
                <a:latin typeface="Calibri"/>
              </a:rPr>
              <a:t>LATAR BELAKANG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786384"/>
            <a:ext cx="11057839" cy="0"/>
          </a:xfrm>
          <a:prstGeom prst="line">
            <a:avLst/>
          </a:prstGeom>
          <a:ln w="22225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71F"/>
                </a:solidFill>
                <a:latin typeface="Calibri"/>
              </a:rPr>
              <a:t>Permasalahan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00784"/>
            <a:ext cx="3429914" cy="148132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asala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1907014" cy="1335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310128"/>
            <a:ext cx="342991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6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84448"/>
            <a:ext cx="3429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71F"/>
                </a:solidFill>
                <a:latin typeface="Calibri"/>
              </a:rPr>
              <a:t>H9N2 belum tertangani tuntas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61104"/>
            <a:ext cx="34299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3F4658"/>
                </a:solidFill>
                <a:latin typeface="Calibri"/>
              </a:rPr>
              <a:t>Subtipe ini beredar luas pada unggas dan berpotensi zoonosis. Vaksin dan antivirus sintetis tidak selalu melindungi jangka panjang karena dinamika mutasi dan risiko resistensi.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0890" y="1700784"/>
            <a:ext cx="3429914" cy="148132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masala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330" y="1773936"/>
            <a:ext cx="3601683" cy="1335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0890" y="3310128"/>
            <a:ext cx="342991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6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0890" y="3584448"/>
            <a:ext cx="3429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71F"/>
                </a:solidFill>
                <a:latin typeface="Calibri"/>
              </a:rPr>
              <a:t>Senyawa herbal belum terjelajahi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0890" y="4261104"/>
            <a:ext cx="34299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3F4658"/>
                </a:solidFill>
                <a:latin typeface="Calibri"/>
              </a:rPr>
              <a:t>Penelitian sebelumnya berhenti pada senyawa sintetik. Pustaka senyawa herbal Indonesia belum pernah disaring secara sistematis terhadap sasaran A/H9N2.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4852" y="1700784"/>
            <a:ext cx="3429914" cy="148132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asalah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292" y="1773936"/>
            <a:ext cx="1715969" cy="13350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94852" y="3310128"/>
            <a:ext cx="342991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6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4852" y="3584448"/>
            <a:ext cx="3429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71F"/>
                </a:solidFill>
                <a:latin typeface="Calibri"/>
              </a:rPr>
              <a:t>Pelatihan model berbiaya mahal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4852" y="4261104"/>
            <a:ext cx="34299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3F4658"/>
                </a:solidFill>
                <a:latin typeface="Calibri"/>
              </a:rPr>
              <a:t>Representasi molekul berdimensi tinggi dan jarang. Metode optimasi orde dua yang lazim menuntut pembentukan matriks Hesse yang tidak terjangkau secara komputasi.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5907024"/>
            <a:ext cx="11057839" cy="0"/>
          </a:xfrm>
          <a:prstGeom prst="line">
            <a:avLst/>
          </a:prstGeom>
          <a:ln w="12700">
            <a:solidFill>
              <a:srgbClr val="DB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53328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F"/>
                </a:solidFill>
                <a:latin typeface="Calibri"/>
              </a:rPr>
              <a:t>Penelitian ini menjawab ketiganya sekaligus: </a:t>
            </a:r>
            <a:r>
              <a:rPr sz="1500" b="1" i="0">
                <a:solidFill>
                  <a:srgbClr val="14171F"/>
                </a:solidFill>
                <a:latin typeface="Calibri"/>
              </a:rPr>
              <a:t>metode optimasi baru</a:t>
            </a:r>
            <a:r>
              <a:rPr sz="1500" b="0" i="0">
                <a:solidFill>
                  <a:srgbClr val="14171F"/>
                </a:solidFill>
                <a:latin typeface="Calibri"/>
              </a:rPr>
              <a:t> untuk melatih model, lalu </a:t>
            </a:r>
            <a:r>
              <a:rPr sz="1500" b="1" i="0">
                <a:solidFill>
                  <a:srgbClr val="14171F"/>
                </a:solidFill>
                <a:latin typeface="Calibri"/>
              </a:rPr>
              <a:t>penyaringan bertahap</a:t>
            </a:r>
            <a:r>
              <a:rPr sz="1500" b="0" i="0">
                <a:solidFill>
                  <a:srgbClr val="14171F"/>
                </a:solidFill>
                <a:latin typeface="Calibri"/>
              </a:rPr>
              <a:t> pustaka herbal Indonesia terhadap sasaran H9N2.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3A6B"/>
                </a:solidFill>
                <a:latin typeface="Calibri"/>
              </a:rPr>
              <a:t>METODE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786384"/>
            <a:ext cx="11057839" cy="0"/>
          </a:xfrm>
          <a:prstGeom prst="line">
            <a:avLst/>
          </a:prstGeom>
          <a:ln w="22225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71F"/>
                </a:solidFill>
                <a:latin typeface="Calibri"/>
              </a:rPr>
              <a:t>Tahun pertama: dua tahap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2700">
            <a:solidFill>
              <a:srgbClr val="B4B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166420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E7587"/>
                </a:solidFill>
                <a:latin typeface="Calibri"/>
              </a:rPr>
              <a:t>TAHAP PERSIAPAN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1567" y="16642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587"/>
                </a:solidFill>
                <a:latin typeface="Calibri"/>
              </a:rPr>
              <a:t>2 kegiatan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419191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66928" y="1883664"/>
            <a:ext cx="1828800" cy="1481328"/>
          </a:xfrm>
          <a:prstGeom prst="roundRect">
            <a:avLst>
              <a:gd name="adj" fmla="val 5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kumpul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199132"/>
            <a:ext cx="1371600" cy="7450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96896" y="2157984"/>
            <a:ext cx="32246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4171F"/>
                </a:solidFill>
                <a:latin typeface="Calibri"/>
              </a:rPr>
              <a:t>Pengumpulan data senyawa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2724912"/>
            <a:ext cx="32246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F4658"/>
                </a:solidFill>
                <a:latin typeface="Calibri"/>
              </a:rPr>
              <a:t>KnapSack, PubChem, ChEMBL, TCMD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3090672"/>
            <a:ext cx="17735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587"/>
                </a:solidFill>
                <a:latin typeface="Calibri"/>
              </a:rPr>
              <a:t>PIC Awawin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2889504"/>
            <a:ext cx="292608" cy="292608"/>
          </a:xfrm>
          <a:prstGeom prst="ellipse">
            <a:avLst/>
          </a:prstGeom>
          <a:solidFill>
            <a:srgbClr val="2C6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1175" y="30723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SELESAI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883664"/>
            <a:ext cx="5419191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205575" y="1883664"/>
            <a:ext cx="1828800" cy="1481328"/>
          </a:xfrm>
          <a:prstGeom prst="roundRect">
            <a:avLst>
              <a:gd name="adj" fmla="val 5000"/>
            </a:avLst>
          </a:prstGeom>
          <a:solidFill>
            <a:srgbClr val="F6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seleksi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303" y="2199132"/>
            <a:ext cx="1371600" cy="7254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35543" y="2157984"/>
            <a:ext cx="32246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4171F"/>
                </a:solidFill>
                <a:latin typeface="Calibri"/>
              </a:rPr>
              <a:t>Seleksi senyawa dan protein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5543" y="2724912"/>
            <a:ext cx="32246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F4658"/>
                </a:solidFill>
                <a:latin typeface="Calibri"/>
              </a:rPr>
              <a:t>kurasi ligan, penetapan reseptor sasaran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543" y="3090672"/>
            <a:ext cx="17735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587"/>
                </a:solidFill>
                <a:latin typeface="Calibri"/>
              </a:rPr>
              <a:t>PIC Nidom</a:t>
            </a:r>
          </a:p>
        </p:txBody>
      </p:sp>
      <p:sp>
        <p:nvSpPr>
          <p:cNvPr id="23" name="Oval 22"/>
          <p:cNvSpPr/>
          <p:nvPr/>
        </p:nvSpPr>
        <p:spPr>
          <a:xfrm>
            <a:off x="6351879" y="2889504"/>
            <a:ext cx="292608" cy="29260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38383" y="3072384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F6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8A5A12"/>
                </a:solidFill>
                <a:latin typeface="Calibri"/>
              </a:rPr>
              <a:t>BERJALAN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3657600"/>
            <a:ext cx="11057839" cy="0"/>
          </a:xfrm>
          <a:prstGeom prst="line">
            <a:avLst/>
          </a:prstGeom>
          <a:ln w="12700">
            <a:solidFill>
              <a:srgbClr val="B4B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3712463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E7587"/>
                </a:solidFill>
                <a:latin typeface="Calibri"/>
              </a:rPr>
              <a:t>TAHAP PELAKSANAAN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1567" y="3712463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587"/>
                </a:solidFill>
                <a:latin typeface="Calibri"/>
              </a:rPr>
              <a:t>4 kegiatan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31920"/>
            <a:ext cx="2627299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66928" y="3931920"/>
            <a:ext cx="2627299" cy="1060704"/>
          </a:xfrm>
          <a:prstGeom prst="roundRect">
            <a:avLst>
              <a:gd name="adj" fmla="val 5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ekstraksi_fit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193" y="4023359"/>
            <a:ext cx="1572768" cy="59855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4944" y="5157216"/>
            <a:ext cx="23712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4171F"/>
                </a:solidFill>
                <a:latin typeface="Calibri"/>
              </a:rPr>
              <a:t>Pra-pemrosesan dan ekstraksi fitur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632704"/>
            <a:ext cx="23712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F4658"/>
                </a:solidFill>
                <a:latin typeface="Calibri"/>
              </a:rPr>
              <a:t>SMILES baku, fingerprint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5961888"/>
            <a:ext cx="144501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7587"/>
                </a:solidFill>
                <a:latin typeface="Calibri"/>
              </a:rPr>
              <a:t>PIC Awawin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" y="4718304"/>
            <a:ext cx="292608" cy="292608"/>
          </a:xfrm>
          <a:prstGeom prst="ellipse">
            <a:avLst/>
          </a:prstGeom>
          <a:solidFill>
            <a:srgbClr val="2C6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99283" y="59253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SELESAI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77107" y="3931920"/>
            <a:ext cx="2627299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377107" y="3931920"/>
            <a:ext cx="2627299" cy="1060704"/>
          </a:xfrm>
          <a:prstGeom prst="roundRect">
            <a:avLst>
              <a:gd name="adj" fmla="val 5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latih_dn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237" y="4023359"/>
            <a:ext cx="1463040" cy="788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505123" y="5157216"/>
            <a:ext cx="23712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4171F"/>
                </a:solidFill>
                <a:latin typeface="Calibri"/>
              </a:rPr>
              <a:t>Pelatihan model DNN–NDD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5123" y="5632704"/>
            <a:ext cx="23712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F4658"/>
                </a:solidFill>
                <a:latin typeface="Calibri"/>
              </a:rPr>
              <a:t>optimasi Newton Divided Difference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5123" y="5961888"/>
            <a:ext cx="144501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7587"/>
                </a:solidFill>
                <a:latin typeface="Calibri"/>
              </a:rPr>
              <a:t>PIC Amiroch</a:t>
            </a:r>
          </a:p>
        </p:txBody>
      </p:sp>
      <p:sp>
        <p:nvSpPr>
          <p:cNvPr id="42" name="Oval 41"/>
          <p:cNvSpPr/>
          <p:nvPr/>
        </p:nvSpPr>
        <p:spPr>
          <a:xfrm>
            <a:off x="3468547" y="4718304"/>
            <a:ext cx="292608" cy="292608"/>
          </a:xfrm>
          <a:prstGeom prst="ellipse">
            <a:avLst/>
          </a:prstGeom>
          <a:solidFill>
            <a:srgbClr val="2C6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9463" y="59253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SELESAI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87287" y="3931920"/>
            <a:ext cx="2627299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6187287" y="3931920"/>
            <a:ext cx="2627299" cy="1060704"/>
          </a:xfrm>
          <a:prstGeom prst="roundRect">
            <a:avLst>
              <a:gd name="adj" fmla="val 5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evaluas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9417" y="4023359"/>
            <a:ext cx="1463040" cy="68009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315303" y="5157216"/>
            <a:ext cx="23712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4171F"/>
                </a:solidFill>
                <a:latin typeface="Calibri"/>
              </a:rPr>
              <a:t>Evaluasi dan validasi silang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5303" y="5632704"/>
            <a:ext cx="23712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F4658"/>
                </a:solidFill>
                <a:latin typeface="Calibri"/>
              </a:rPr>
              <a:t>AUC, sensitivitas, spesifisitas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5303" y="5961888"/>
            <a:ext cx="144501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7587"/>
                </a:solidFill>
                <a:latin typeface="Calibri"/>
              </a:rPr>
              <a:t>PIC Amiroch</a:t>
            </a:r>
          </a:p>
        </p:txBody>
      </p:sp>
      <p:sp>
        <p:nvSpPr>
          <p:cNvPr id="50" name="Oval 49"/>
          <p:cNvSpPr/>
          <p:nvPr/>
        </p:nvSpPr>
        <p:spPr>
          <a:xfrm>
            <a:off x="6278727" y="4718304"/>
            <a:ext cx="292608" cy="292608"/>
          </a:xfrm>
          <a:prstGeom prst="ellipse">
            <a:avLst/>
          </a:prstGeom>
          <a:solidFill>
            <a:srgbClr val="2C6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19643" y="59253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SELESAI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97467" y="3931920"/>
            <a:ext cx="2627299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997467" y="3931920"/>
            <a:ext cx="2627299" cy="1060704"/>
          </a:xfrm>
          <a:prstGeom prst="roundRect">
            <a:avLst>
              <a:gd name="adj" fmla="val 5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scree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2477" y="4023359"/>
            <a:ext cx="1097280" cy="87939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125483" y="5157216"/>
            <a:ext cx="23712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4171F"/>
                </a:solidFill>
                <a:latin typeface="Calibri"/>
              </a:rPr>
              <a:t>Virtual screening senyawa herbal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25483" y="5632704"/>
            <a:ext cx="23712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F4658"/>
                </a:solidFill>
                <a:latin typeface="Calibri"/>
              </a:rPr>
              <a:t>ambang probabilitas ≥ 0,8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25483" y="5961888"/>
            <a:ext cx="144501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7587"/>
                </a:solidFill>
                <a:latin typeface="Calibri"/>
              </a:rPr>
              <a:t>PIC Hamim</a:t>
            </a:r>
          </a:p>
        </p:txBody>
      </p:sp>
      <p:sp>
        <p:nvSpPr>
          <p:cNvPr id="58" name="Oval 57"/>
          <p:cNvSpPr/>
          <p:nvPr/>
        </p:nvSpPr>
        <p:spPr>
          <a:xfrm>
            <a:off x="9088907" y="4718304"/>
            <a:ext cx="292608" cy="292608"/>
          </a:xfrm>
          <a:prstGeom prst="ellipse">
            <a:avLst/>
          </a:prstGeom>
          <a:solidFill>
            <a:srgbClr val="2C6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929823" y="59253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SELESAI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E7587"/>
                </a:solidFill>
                <a:latin typeface="Calibri"/>
              </a:rPr>
              <a:t>Urutan, penamaan kegiatan, dan penanggung jawab mengikuti usulan penelitian.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3A6B"/>
                </a:solidFill>
                <a:latin typeface="Calibri"/>
              </a:rPr>
              <a:t>PROGRES PELAKSANAAN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786384"/>
            <a:ext cx="11057839" cy="0"/>
          </a:xfrm>
          <a:prstGeom prst="line">
            <a:avLst/>
          </a:prstGeom>
          <a:ln w="22225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71F"/>
                </a:solidFill>
                <a:latin typeface="Calibri"/>
              </a:rPr>
              <a:t>Capaian sampai kriteria ADMET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9344"/>
            <a:ext cx="2006742" cy="78638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20067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E3A6B"/>
                </a:solidFill>
                <a:latin typeface="Calibri"/>
              </a:rPr>
              <a:t>832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21408"/>
            <a:ext cx="20067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E7587"/>
                </a:solidFill>
                <a:latin typeface="Calibri"/>
              </a:rPr>
              <a:t>entri terjaring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28534" y="1947672"/>
            <a:ext cx="146304" cy="109728"/>
          </a:xfrm>
          <a:prstGeom prst="rightArrow">
            <a:avLst/>
          </a:prstGeom>
          <a:solidFill>
            <a:srgbClr val="B4B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9702" y="1609344"/>
            <a:ext cx="2006742" cy="78638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29702" y="1737360"/>
            <a:ext cx="20067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E3A6B"/>
                </a:solidFill>
                <a:latin typeface="Calibri"/>
              </a:rPr>
              <a:t>625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9702" y="2121408"/>
            <a:ext cx="20067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E7587"/>
                </a:solidFill>
                <a:latin typeface="Calibri"/>
              </a:rPr>
              <a:t>senyawa terkurasi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91308" y="1947672"/>
            <a:ext cx="146304" cy="109728"/>
          </a:xfrm>
          <a:prstGeom prst="rightArrow">
            <a:avLst/>
          </a:prstGeom>
          <a:solidFill>
            <a:srgbClr val="B4B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92476" y="1609344"/>
            <a:ext cx="2006742" cy="78638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92476" y="1737360"/>
            <a:ext cx="20067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E3A6B"/>
                </a:solidFill>
                <a:latin typeface="Calibri"/>
              </a:rPr>
              <a:t>5.820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2476" y="2121408"/>
            <a:ext cx="20067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E7587"/>
                </a:solidFill>
                <a:latin typeface="Calibri"/>
              </a:rPr>
              <a:t>fitur molekul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54082" y="1947672"/>
            <a:ext cx="146304" cy="109728"/>
          </a:xfrm>
          <a:prstGeom prst="rightArrow">
            <a:avLst/>
          </a:prstGeom>
          <a:solidFill>
            <a:srgbClr val="B4B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55250" y="1609344"/>
            <a:ext cx="2006742" cy="78638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55250" y="1737360"/>
            <a:ext cx="20067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E3A6B"/>
                </a:solidFill>
                <a:latin typeface="Calibri"/>
              </a:rPr>
              <a:t>104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5250" y="2121408"/>
            <a:ext cx="20067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E7587"/>
                </a:solidFill>
                <a:latin typeface="Calibri"/>
              </a:rPr>
              <a:t>lolos ambang 0,9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16856" y="1947672"/>
            <a:ext cx="146304" cy="109728"/>
          </a:xfrm>
          <a:prstGeom prst="rightArrow">
            <a:avLst/>
          </a:prstGeom>
          <a:solidFill>
            <a:srgbClr val="B4B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8024" y="1609344"/>
            <a:ext cx="2006742" cy="786384"/>
          </a:xfrm>
          <a:prstGeom prst="roundRect">
            <a:avLst>
              <a:gd name="adj" fmla="val 6000"/>
            </a:avLst>
          </a:prstGeom>
          <a:solidFill>
            <a:srgbClr val="E7ECF6"/>
          </a:solidFill>
          <a:ln w="190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18024" y="1737360"/>
            <a:ext cx="20067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E3A6B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8024" y="2121408"/>
            <a:ext cx="20067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E7587"/>
                </a:solidFill>
                <a:latin typeface="Calibri"/>
              </a:rPr>
              <a:t>lolos kriteria ADMET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66928" y="2688336"/>
          <a:ext cx="6126480" cy="30723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967728" y="2688336"/>
            <a:ext cx="4657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71F"/>
                </a:solidFill>
                <a:latin typeface="Calibri"/>
              </a:rPr>
              <a:t>Yang sudah dituntaskan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108960"/>
            <a:ext cx="45107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654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F4658"/>
                </a:solidFill>
                <a:latin typeface="Calibri"/>
              </a:rPr>
              <a:t>Kurasi </a:t>
            </a:r>
            <a:r>
              <a:rPr sz="1300" b="1" i="0">
                <a:solidFill>
                  <a:srgbClr val="14171F"/>
                </a:solidFill>
                <a:latin typeface="Calibri"/>
              </a:rPr>
              <a:t>625</a:t>
            </a:r>
            <a:r>
              <a:rPr sz="1300" b="0" i="0">
                <a:solidFill>
                  <a:srgbClr val="3F4658"/>
                </a:solidFill>
                <a:latin typeface="Calibri"/>
              </a:rPr>
              <a:t> senyawa dari basis data publik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3493008"/>
            <a:ext cx="45107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654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F4658"/>
                </a:solidFill>
                <a:latin typeface="Calibri"/>
              </a:rPr>
              <a:t>Tiga </a:t>
            </a:r>
            <a:r>
              <a:rPr sz="1300" b="1" i="1">
                <a:solidFill>
                  <a:srgbClr val="14171F"/>
                </a:solidFill>
                <a:latin typeface="Calibri"/>
              </a:rPr>
              <a:t>fingerprint</a:t>
            </a:r>
            <a:r>
              <a:rPr sz="1300" b="0" i="0">
                <a:solidFill>
                  <a:srgbClr val="3F4658"/>
                </a:solidFill>
                <a:latin typeface="Calibri"/>
              </a:rPr>
              <a:t>: EState, PubChem, Klekota-Roth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3877056"/>
            <a:ext cx="45107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654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F4658"/>
                </a:solidFill>
                <a:latin typeface="Calibri"/>
              </a:rPr>
              <a:t>Model DNN–NDD diverifikasi; selisih AUC </a:t>
            </a:r>
            <a:r>
              <a:rPr sz="1300" b="1" i="0">
                <a:solidFill>
                  <a:srgbClr val="14171F"/>
                </a:solidFill>
                <a:latin typeface="Calibri"/>
              </a:rPr>
              <a:t>0,0025</a:t>
            </a:r>
            <a:r>
              <a:rPr sz="1300" b="0" i="0">
                <a:solidFill>
                  <a:srgbClr val="3F4658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261104"/>
            <a:ext cx="45107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654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F4658"/>
                </a:solidFill>
                <a:latin typeface="Calibri"/>
              </a:rPr>
              <a:t>Ambang </a:t>
            </a:r>
            <a:r>
              <a:rPr sz="1300" b="1" i="0">
                <a:solidFill>
                  <a:srgbClr val="14171F"/>
                </a:solidFill>
                <a:latin typeface="Calibri"/>
              </a:rPr>
              <a:t>0,9</a:t>
            </a:r>
            <a:r>
              <a:rPr sz="1300" b="0" i="0">
                <a:solidFill>
                  <a:srgbClr val="3F4658"/>
                </a:solidFill>
                <a:latin typeface="Calibri"/>
              </a:rPr>
              <a:t> — lebih ketat daripada 0,8 pada usulan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7728" y="4754880"/>
            <a:ext cx="4657039" cy="1005840"/>
          </a:xfrm>
          <a:prstGeom prst="roundRect">
            <a:avLst>
              <a:gd name="adj" fmla="val 6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50608" y="4882896"/>
            <a:ext cx="4291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C6543"/>
                </a:solidFill>
                <a:latin typeface="Calibri"/>
              </a:rPr>
              <a:t>TKT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5285232"/>
            <a:ext cx="4291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F4658"/>
                </a:solidFill>
                <a:latin typeface="Calibri"/>
              </a:rPr>
              <a:t>Pembuktian konsep fungsi dan karakteristik penting secara analitis dan eksperimental — target tahun pertama tercapai.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5998464"/>
            <a:ext cx="11057839" cy="0"/>
          </a:xfrm>
          <a:prstGeom prst="line">
            <a:avLst/>
          </a:prstGeom>
          <a:ln w="12700">
            <a:solidFill>
              <a:srgbClr val="DB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F"/>
                </a:solidFill>
                <a:latin typeface="Calibri"/>
              </a:rPr>
              <a:t>Progres pelaksanaan </a:t>
            </a:r>
            <a:r>
              <a:rPr sz="1500" b="1" i="0">
                <a:solidFill>
                  <a:srgbClr val="14171F"/>
                </a:solidFill>
                <a:latin typeface="Calibri"/>
              </a:rPr>
              <a:t>80%</a:t>
            </a:r>
            <a:r>
              <a:rPr sz="1500" b="0" i="0">
                <a:solidFill>
                  <a:srgbClr val="14171F"/>
                </a:solidFill>
                <a:latin typeface="Calibri"/>
              </a:rPr>
              <a:t>, selaras dengan realisasi anggaran tahap pertama.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3A6B"/>
                </a:solidFill>
                <a:latin typeface="Calibri"/>
              </a:rPr>
              <a:t>HASIL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786384"/>
            <a:ext cx="11057839" cy="0"/>
          </a:xfrm>
          <a:prstGeom prst="line">
            <a:avLst/>
          </a:prstGeom>
          <a:ln w="22225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71F"/>
                </a:solidFill>
                <a:latin typeface="Calibri"/>
              </a:rPr>
              <a:t>Bukti dari artikel yang sudah terbit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00319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06_klekota_key_optimizers_auc_pr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55648"/>
            <a:ext cx="5080863" cy="28692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517136"/>
            <a:ext cx="53003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4171F"/>
                </a:solidFill>
                <a:latin typeface="Calibri"/>
              </a:rPr>
              <a:t>NDD unggul pada ketiga skema pembagian data. </a:t>
            </a:r>
            <a:r>
              <a:rPr sz="1350" b="0" i="0">
                <a:solidFill>
                  <a:srgbClr val="3F4658"/>
                </a:solidFill>
                <a:latin typeface="Calibri"/>
              </a:rPr>
              <a:t>Titik ungu berada paling atas untuk ROC-AUC maupun PR-AUC, dibandingkan Adam, AdamW, Momentum, dan Hessian-free.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1645920"/>
            <a:ext cx="5300319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08_runtime_tradeoff_simpl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5" y="1755648"/>
            <a:ext cx="5080863" cy="32106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4447" y="4517136"/>
            <a:ext cx="53003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4171F"/>
                </a:solidFill>
                <a:latin typeface="Calibri"/>
              </a:rPr>
              <a:t>Dengan waktu jauh lebih singkat. </a:t>
            </a:r>
            <a:r>
              <a:rPr sz="1350" b="0" i="0">
                <a:solidFill>
                  <a:srgbClr val="3F4658"/>
                </a:solidFill>
                <a:latin typeface="Calibri"/>
              </a:rPr>
              <a:t>Bintang NDD berkumpul di bawah 7 detik; Hessian-free yang sekelas ketelitiannya memerlukan 28–45 detik.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5998464"/>
            <a:ext cx="11057839" cy="0"/>
          </a:xfrm>
          <a:prstGeom prst="line">
            <a:avLst/>
          </a:prstGeom>
          <a:ln w="12700">
            <a:solidFill>
              <a:srgbClr val="DB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F"/>
                </a:solidFill>
                <a:latin typeface="Calibri"/>
              </a:rPr>
              <a:t>Kedua gambar diambil apa adanya dari artikel yang terbit di </a:t>
            </a:r>
            <a:r>
              <a:rPr sz="1500" b="0" i="1">
                <a:solidFill>
                  <a:srgbClr val="14171F"/>
                </a:solidFill>
                <a:latin typeface="Calibri"/>
              </a:rPr>
              <a:t>Journal of Applied Data Sciences</a:t>
            </a:r>
            <a:r>
              <a:rPr sz="1500" b="0" i="0">
                <a:solidFill>
                  <a:srgbClr val="14171F"/>
                </a:solidFill>
                <a:latin typeface="Calibri"/>
              </a:rPr>
              <a:t> — bukan hasil olahan ulang untuk paparan 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3A6B"/>
                </a:solidFill>
                <a:latin typeface="Calibri"/>
              </a:rPr>
              <a:t>LUARAN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786384"/>
            <a:ext cx="11057839" cy="0"/>
          </a:xfrm>
          <a:prstGeom prst="line">
            <a:avLst/>
          </a:prstGeom>
          <a:ln w="22225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71F"/>
                </a:solidFill>
                <a:latin typeface="Calibri"/>
              </a:rPr>
              <a:t>Luaran yang dicapai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11057839" cy="157276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773936"/>
            <a:ext cx="8863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3A6B"/>
                </a:solidFill>
                <a:latin typeface="Calibri"/>
              </a:rPr>
              <a:t>LUARAN WAJIB — JURNAL INTERNASIONAL BEREPUTASI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66543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4171F"/>
                </a:solidFill>
                <a:latin typeface="Calibri"/>
              </a:rPr>
              <a:t>Newton Divided Difference Optimization for Fingerprint-Based Neural Virtual Screening against Avian Influenza A/H9N2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F4658"/>
                </a:solidFill>
                <a:latin typeface="Calibri"/>
              </a:rPr>
              <a:t>Amiroch S., Jamhuri M., Rohmah A. M., Al Faroby M. H. Z., Nidom C. A., Nidom R. V.</a:t>
            </a:r>
          </a:p>
          <a:p>
            <a:pPr algn="l"/>
            <a:r>
              <a:rPr sz="1250" b="0" i="1">
                <a:solidFill>
                  <a:srgbClr val="3F4658"/>
                </a:solidFill>
                <a:latin typeface="Calibri"/>
              </a:rPr>
              <a:t>Journal of Applied Data Sciences</a:t>
            </a:r>
            <a:r>
              <a:rPr sz="1250" b="0" i="0">
                <a:solidFill>
                  <a:srgbClr val="3F4658"/>
                </a:solidFill>
                <a:latin typeface="Calibri"/>
              </a:rPr>
              <a:t>, Vol. 7 No. 3 (2026)  ·  DOI 10.47738/jads.v7i3.1416  ·  terindeks </a:t>
            </a:r>
            <a:r>
              <a:rPr sz="1250" b="1" i="0">
                <a:solidFill>
                  <a:srgbClr val="3F4658"/>
                </a:solidFill>
                <a:latin typeface="Calibri"/>
              </a:rPr>
              <a:t>Scopus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18927" y="1755648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TERBIT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958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587"/>
                </a:solidFill>
                <a:latin typeface="Calibri"/>
              </a:rPr>
              <a:t>LUARAN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3529584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587"/>
                </a:solidFill>
                <a:latin typeface="Calibri"/>
              </a:rPr>
              <a:t>RENCANA PADA USULAN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3529584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587"/>
                </a:solidFill>
                <a:latin typeface="Calibri"/>
              </a:rPr>
              <a:t>KEADAAN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3803904"/>
            <a:ext cx="11057839" cy="0"/>
          </a:xfrm>
          <a:prstGeom prst="line">
            <a:avLst/>
          </a:prstGeom>
          <a:ln w="12700">
            <a:solidFill>
              <a:srgbClr val="DB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3931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171F"/>
                </a:solidFill>
                <a:latin typeface="Calibri"/>
              </a:rPr>
              <a:t>Jurnal internasional Scopus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93192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F4658"/>
                </a:solidFill>
                <a:latin typeface="Calibri"/>
              </a:rPr>
              <a:t>System and Soft Computing (Q3)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9319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F4658"/>
                </a:solidFill>
                <a:latin typeface="Calibri"/>
              </a:rPr>
              <a:t>Dipenuhi melalui Journal of Applied Data Sciences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73207" y="395020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TERBIT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4517136"/>
            <a:ext cx="11057839" cy="0"/>
          </a:xfrm>
          <a:prstGeom prst="line">
            <a:avLst/>
          </a:prstGeom>
          <a:ln w="12700">
            <a:solidFill>
              <a:srgbClr val="DB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464515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171F"/>
                </a:solidFill>
                <a:latin typeface="Calibri"/>
              </a:rPr>
              <a:t>Jurnal nasional Sinta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464515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F4658"/>
                </a:solidFill>
                <a:latin typeface="Calibri"/>
              </a:rPr>
              <a:t>CAUCHY: Jurnal Matematika Murni dan Aplikasi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464515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F4658"/>
                </a:solidFill>
                <a:latin typeface="Calibri"/>
              </a:rPr>
              <a:t>Penyusunan naskah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73207" y="466344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6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8A5A12"/>
                </a:solidFill>
                <a:latin typeface="Calibri"/>
              </a:rPr>
              <a:t>BERPROSES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5230368"/>
            <a:ext cx="11057839" cy="0"/>
          </a:xfrm>
          <a:prstGeom prst="line">
            <a:avLst/>
          </a:prstGeom>
          <a:ln w="12700">
            <a:solidFill>
              <a:srgbClr val="DB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535838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171F"/>
                </a:solidFill>
                <a:latin typeface="Calibri"/>
              </a:rPr>
              <a:t>Poster penelitian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5358384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F4658"/>
                </a:solidFill>
                <a:latin typeface="Calibri"/>
              </a:rPr>
              <a:t>Dijadwalkan bulan ke-10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5358384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F4658"/>
                </a:solidFill>
                <a:latin typeface="Calibri"/>
              </a:rPr>
              <a:t>Sudah tersedia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73207" y="5376672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TERSEDIA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5998464"/>
            <a:ext cx="11057839" cy="0"/>
          </a:xfrm>
          <a:prstGeom prst="line">
            <a:avLst/>
          </a:prstGeom>
          <a:ln w="12700">
            <a:solidFill>
              <a:srgbClr val="DB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F"/>
                </a:solidFill>
                <a:latin typeface="Calibri"/>
              </a:rPr>
              <a:t>Publikasi ini </a:t>
            </a:r>
            <a:r>
              <a:rPr sz="1500" b="1" i="0">
                <a:solidFill>
                  <a:srgbClr val="14171F"/>
                </a:solidFill>
                <a:latin typeface="Calibri"/>
              </a:rPr>
              <a:t>melampaui batas tahap pertama</a:t>
            </a:r>
            <a:r>
              <a:rPr sz="1500" b="0" i="0">
                <a:solidFill>
                  <a:srgbClr val="14171F"/>
                </a:solidFill>
                <a:latin typeface="Calibri"/>
              </a:rPr>
              <a:t> pada usulan — hasil tahap 1 dan sebagian tahap 2 sudah termuat di dalamnya.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3A6B"/>
                </a:solidFill>
                <a:latin typeface="Calibri"/>
              </a:rPr>
              <a:t>KENDALA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786384"/>
            <a:ext cx="11057839" cy="0"/>
          </a:xfrm>
          <a:prstGeom prst="line">
            <a:avLst/>
          </a:prstGeom>
          <a:ln w="22225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71F"/>
                </a:solidFill>
                <a:latin typeface="Calibri"/>
              </a:rPr>
              <a:t>Kendala pelaksanaan dan penanganannya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00784"/>
            <a:ext cx="11057839" cy="1298448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68096" y="1901952"/>
            <a:ext cx="310896" cy="310896"/>
          </a:xfrm>
          <a:prstGeom prst="ellipse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188366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4171F"/>
                </a:solidFill>
                <a:latin typeface="Calibri"/>
              </a:rPr>
              <a:t>Cacat keselarasan identitas senyawa pada kanonikalisasi struktur — nama, pengenal PubChem, dan tanaman asal tertukar pada sekitar 75% baris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1883664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F4658"/>
                </a:solidFill>
                <a:latin typeface="Calibri"/>
              </a:rPr>
              <a:t>Identitas dibangun ulang dari berkas sumber terverifikasi lalu dicocokkan ke PubChem: 104 dari 104 cocok. Nilai prediksi tidak terpengaruh karena model menilai struktur, bukan nama.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90327" y="192024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TERTANGANI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08960"/>
            <a:ext cx="11057839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68096" y="3310128"/>
            <a:ext cx="310896" cy="310896"/>
          </a:xfrm>
          <a:prstGeom prst="ellipse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32918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4171F"/>
                </a:solidFill>
                <a:latin typeface="Calibri"/>
              </a:rPr>
              <a:t>Keterbatasan perangkat komputasi untuk pelatihan model pada representasi berdimensi tinggi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329184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F4658"/>
                </a:solidFill>
                <a:latin typeface="Calibri"/>
              </a:rPr>
              <a:t>Pelatihan dan penyaringan dipindahkan ke layanan komputasi awan berbasis GPU dengan mekanisme lanjut antar-sesi.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90327" y="3328416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2C6543"/>
                </a:solidFill>
                <a:latin typeface="Calibri"/>
              </a:rPr>
              <a:t>TERTANGANI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17136"/>
            <a:ext cx="11057839" cy="1298448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DB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68096" y="4718304"/>
            <a:ext cx="310896" cy="310896"/>
          </a:xfrm>
          <a:prstGeom prst="ellipse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470001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4171F"/>
                </a:solidFill>
                <a:latin typeface="Calibri"/>
              </a:rPr>
              <a:t>Struktur protein galur H9N2 belum lengkap tersedia pada Protein Data 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4700016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F4658"/>
                </a:solidFill>
                <a:latin typeface="Calibri"/>
              </a:rPr>
              <a:t>Penetapan reseptor sasaran masih berjalan; substitusi struktur akan didukung pengukuran konservasi residu kantong pengikatan.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90327" y="473659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6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8A5A12"/>
                </a:solidFill>
                <a:latin typeface="Calibri"/>
              </a:rPr>
              <a:t>BERJALAN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5998464"/>
            <a:ext cx="11057839" cy="0"/>
          </a:xfrm>
          <a:prstGeom prst="line">
            <a:avLst/>
          </a:prstGeom>
          <a:ln w="12700">
            <a:solidFill>
              <a:srgbClr val="DB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F"/>
                </a:solidFill>
                <a:latin typeface="Calibri"/>
              </a:rPr>
              <a:t>Secara keseluruhan kegiatan berjalan sesuai tahapan yang direncanakan pada usulan penelitian.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3A6B"/>
                </a:solidFill>
                <a:latin typeface="Calibri"/>
              </a:rPr>
              <a:t>RENCANA TAHAPAN SELANJUTNYA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786384"/>
            <a:ext cx="11057839" cy="0"/>
          </a:xfrm>
          <a:prstGeom prst="line">
            <a:avLst/>
          </a:prstGeom>
          <a:ln w="22225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171F"/>
                </a:solidFill>
                <a:latin typeface="Calibri"/>
              </a:rPr>
              <a:t>Menuntaskan tahun pertama, lalu masuk validasi biofisika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5254599" cy="3200400"/>
          </a:xfrm>
          <a:prstGeom prst="roundRect">
            <a:avLst>
              <a:gd name="adj" fmla="val 5000"/>
            </a:avLst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7" y="1975104"/>
            <a:ext cx="4705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C6543"/>
                </a:solidFill>
                <a:latin typeface="Calibri"/>
              </a:rPr>
              <a:t>Sisa tahun pertama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42032"/>
            <a:ext cx="4705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C6543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F4658"/>
                </a:solidFill>
                <a:latin typeface="Calibri"/>
              </a:rPr>
              <a:t>Menuntaskan penetapan protein target A/H9N2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108960"/>
            <a:ext cx="4705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C6543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F4658"/>
                </a:solidFill>
                <a:latin typeface="Calibri"/>
              </a:rPr>
              <a:t>Menyusun naskah jurnal nasional Sinta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75887"/>
            <a:ext cx="4705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C6543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F4658"/>
                </a:solidFill>
                <a:latin typeface="Calibri"/>
              </a:rPr>
              <a:t>Penyusunan laporan akhir tahun pertama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0167" y="1737360"/>
            <a:ext cx="5254599" cy="3200400"/>
          </a:xfrm>
          <a:prstGeom prst="roundRect">
            <a:avLst>
              <a:gd name="adj" fmla="val 5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44487" y="1975104"/>
            <a:ext cx="4705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E3A6B"/>
                </a:solidFill>
                <a:latin typeface="Calibri"/>
              </a:rPr>
              <a:t>Tahun kedua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2542032"/>
            <a:ext cx="4705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6B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F4658"/>
                </a:solidFill>
                <a:latin typeface="Calibri"/>
              </a:rPr>
              <a:t>Optimasi struktur ligan dan persiapan protein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3108960"/>
            <a:ext cx="4705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6B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F4658"/>
                </a:solidFill>
                <a:latin typeface="Calibri"/>
              </a:rPr>
              <a:t>Molecular docking dan analisis afinitas ikatan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3675887"/>
            <a:ext cx="4705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6B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F4658"/>
                </a:solidFill>
                <a:latin typeface="Calibri"/>
              </a:rPr>
              <a:t>Optimasi metaheuristik atas hasil docking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4242816"/>
            <a:ext cx="4705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6B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F4658"/>
                </a:solidFill>
                <a:latin typeface="Calibri"/>
              </a:rPr>
              <a:t>Simulasi dinamika molekuler dan evaluasi kestabilan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5705856"/>
            <a:ext cx="11057839" cy="0"/>
          </a:xfrm>
          <a:prstGeom prst="line">
            <a:avLst/>
          </a:prstGeom>
          <a:ln w="12700">
            <a:solidFill>
              <a:srgbClr val="DB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F"/>
                </a:solidFill>
                <a:latin typeface="Calibri"/>
              </a:rPr>
              <a:t>Kandidat hasil penyaringan tahun pertama menjadi masukan langsung bagi validasi biofisika pada tahun kedua.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3A6B"/>
                </a:solidFill>
                <a:latin typeface="Calibri"/>
              </a:rPr>
              <a:t>jamhuri-tech.github.io/h9n2-fase2-poster   ·   github.com/jamhuri-tech/h9n2-fase2-hasil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